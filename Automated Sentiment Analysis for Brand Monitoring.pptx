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9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7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72" d="100"/>
          <a:sy n="72" d="100"/>
        </p:scale>
        <p:origin x="4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4005A-C1B7-4D08-AAF0-02F1CCD914D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F6D81-94B8-441E-A24A-C5188899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22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5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02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5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0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7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13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4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7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926FFF4-56F4-4BB1-9D17-336E135530A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FA4630D-0A91-4C0F-BF1A-CF0F11A2EE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943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5" r:id="rId1"/>
    <p:sldLayoutId id="2147484596" r:id="rId2"/>
    <p:sldLayoutId id="2147484597" r:id="rId3"/>
    <p:sldLayoutId id="2147484598" r:id="rId4"/>
    <p:sldLayoutId id="2147484599" r:id="rId5"/>
    <p:sldLayoutId id="2147484600" r:id="rId6"/>
    <p:sldLayoutId id="2147484601" r:id="rId7"/>
    <p:sldLayoutId id="2147484602" r:id="rId8"/>
    <p:sldLayoutId id="2147484603" r:id="rId9"/>
    <p:sldLayoutId id="2147484604" r:id="rId10"/>
    <p:sldLayoutId id="21474846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eillamacharia/twitter_brand_sentiment_nlp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FA73-294E-48D7-82C0-B9DCCF208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229135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Automated Sentiment Analysis for Brand Monitoring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65BE9-B8EA-485E-8597-756435480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805" y="3801979"/>
            <a:ext cx="10073196" cy="3229135"/>
          </a:xfrm>
        </p:spPr>
        <p:txBody>
          <a:bodyPr>
            <a:normAutofit/>
          </a:bodyPr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i="1" dirty="0"/>
              <a:t>A Machine Learning Approach to Twitter Data</a:t>
            </a:r>
          </a:p>
          <a:p>
            <a:pPr algn="l"/>
            <a:r>
              <a:rPr lang="en-US" i="1" dirty="0"/>
              <a:t>Final Group  1 Project Presentation</a:t>
            </a:r>
          </a:p>
          <a:p>
            <a:pPr algn="l"/>
            <a:r>
              <a:rPr lang="en-US" i="1" dirty="0"/>
              <a:t>NLP &amp; Machine Learning Analysis</a:t>
            </a:r>
          </a:p>
        </p:txBody>
      </p:sp>
    </p:spTree>
    <p:extLst>
      <p:ext uri="{BB962C8B-B14F-4D97-AF65-F5344CB8AC3E}">
        <p14:creationId xmlns:p14="http://schemas.microsoft.com/office/powerpoint/2010/main" val="132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45FC1-0342-4D31-882A-F0AC0129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7DDA2-45A2-4A07-81D8-F937BCA44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83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Business Overview</a:t>
            </a:r>
          </a:p>
          <a:p>
            <a:pPr lvl="1"/>
            <a:r>
              <a:rPr lang="en-US" sz="2000" dirty="0"/>
              <a:t>Social media platforms generate millions of customer opinions daily</a:t>
            </a:r>
          </a:p>
          <a:p>
            <a:pPr lvl="1"/>
            <a:r>
              <a:rPr lang="en-US" sz="2000" dirty="0"/>
              <a:t>Manual analysis of tweets is time-consuming, costly, and not scalable</a:t>
            </a:r>
          </a:p>
          <a:p>
            <a:pPr lvl="1"/>
            <a:r>
              <a:rPr lang="en-US" sz="2000" dirty="0"/>
              <a:t>Organizations need automated methods to understand customer sentiment in real time</a:t>
            </a:r>
          </a:p>
          <a:p>
            <a:pPr marL="0" indent="0">
              <a:buNone/>
            </a:pPr>
            <a:r>
              <a:rPr lang="en-US" sz="2400" b="1" dirty="0"/>
              <a:t>Business Problem</a:t>
            </a:r>
          </a:p>
          <a:p>
            <a:pPr lvl="1"/>
            <a:r>
              <a:rPr lang="en-US" sz="2000" dirty="0"/>
              <a:t>Twitter data is unstructured but contains valuable insights about brand perception.</a:t>
            </a:r>
          </a:p>
          <a:p>
            <a:pPr lvl="1"/>
            <a:r>
              <a:rPr lang="en-US" sz="2000" dirty="0"/>
              <a:t>Companies struggle to track public sentiment toward products like Apple and Google</a:t>
            </a:r>
          </a:p>
          <a:p>
            <a:pPr lvl="1"/>
            <a:r>
              <a:rPr lang="en-US" sz="2000" dirty="0"/>
              <a:t>There is a need to automatically classify tweets as positive, negative, or neutral</a:t>
            </a:r>
          </a:p>
          <a:p>
            <a:pPr marL="0" indent="0">
              <a:buNone/>
            </a:pPr>
            <a:r>
              <a:rPr lang="en-US" sz="2400" b="1" dirty="0"/>
              <a:t>Project Objective</a:t>
            </a:r>
          </a:p>
          <a:p>
            <a:pPr lvl="1"/>
            <a:r>
              <a:rPr lang="en-US" sz="2000" dirty="0"/>
              <a:t>Apply Natural Language Processing (NLP) and Machine Learning techniques</a:t>
            </a:r>
          </a:p>
          <a:p>
            <a:pPr lvl="1"/>
            <a:r>
              <a:rPr lang="en-US" sz="2000" dirty="0"/>
              <a:t>Accurately classify sentiment toward Apple and Google products</a:t>
            </a:r>
          </a:p>
          <a:p>
            <a:pPr lvl="1"/>
            <a:r>
              <a:rPr lang="en-US" sz="2000" dirty="0"/>
              <a:t>Support brand monitoring, reputation management, and data-driven decision making</a:t>
            </a:r>
          </a:p>
          <a:p>
            <a:endParaRPr lang="en-US" sz="2400" dirty="0"/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0565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CA4F-4B2C-42E8-96D9-B7B7B58F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27305-5E67-4A62-8A4E-C16CE0213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Dataset Overview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Source: Judge Emotion About Brands and Products dataset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Size: 9,093 tweet entries 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Labels: Human-annotated sentiment toward brands or products</a:t>
            </a:r>
          </a:p>
          <a:p>
            <a:pPr lvl="1"/>
            <a:r>
              <a:rPr lang="en-US" sz="2000" dirty="0">
                <a:solidFill>
                  <a:srgbClr val="0F1115"/>
                </a:solidFill>
                <a:latin typeface="quote-cjk-patch"/>
              </a:rPr>
              <a:t>Columns: </a:t>
            </a:r>
            <a:r>
              <a:rPr lang="en-US" sz="2000" dirty="0" err="1">
                <a:solidFill>
                  <a:srgbClr val="0F1115"/>
                </a:solidFill>
                <a:latin typeface="quote-cjk-patch"/>
              </a:rPr>
              <a:t>tweet_text</a:t>
            </a:r>
            <a:r>
              <a:rPr lang="en-US" sz="2000" dirty="0">
                <a:solidFill>
                  <a:srgbClr val="0F1115"/>
                </a:solidFill>
                <a:latin typeface="quote-cjk-patch"/>
              </a:rPr>
              <a:t>, </a:t>
            </a:r>
            <a:r>
              <a:rPr lang="en-US" sz="2000" dirty="0" err="1"/>
              <a:t>emotion_in_tweet_is_directed_at</a:t>
            </a:r>
            <a:r>
              <a:rPr lang="en-US" sz="2000" dirty="0"/>
              <a:t>, </a:t>
            </a:r>
            <a:r>
              <a:rPr lang="en-US" sz="2000" dirty="0" err="1"/>
              <a:t>is_there_an_emotion_directed_at_a_brand_or_product</a:t>
            </a:r>
            <a:endParaRPr lang="en-U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Key Data Challenges</a:t>
            </a:r>
          </a:p>
          <a:p>
            <a:pPr lvl="1"/>
            <a:r>
              <a:rPr lang="en-US" sz="2000" dirty="0"/>
              <a:t>Missing values in brand/product column</a:t>
            </a:r>
          </a:p>
          <a:p>
            <a:pPr lvl="1"/>
            <a:r>
              <a:rPr lang="fr-FR" sz="2000" dirty="0"/>
              <a:t>Ambiguous sentiment expressions Common in social media</a:t>
            </a:r>
          </a:p>
          <a:p>
            <a:pPr lvl="1"/>
            <a:r>
              <a:rPr lang="en-US" sz="2000" dirty="0"/>
              <a:t>Class imbalance, with neutral sentiment dominating the dataset</a:t>
            </a:r>
          </a:p>
          <a:p>
            <a:pPr marL="0" indent="0" algn="l">
              <a:buNone/>
            </a:pPr>
            <a:endParaRPr lang="en-US" sz="24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5902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174D-366A-4469-B52F-3F55A72D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Data Cleaning and Preparation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FD2465-2D7D-4BD4-BC0E-DE0387460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39360"/>
            <a:ext cx="10676138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data: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rows with missing tweet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 samples: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Excluded ambiguous entries and standardized labels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Retained columns: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tweet_text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sentiment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normalization: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Lowercasing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URLs, mentions, and hashtag symbols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non-alphabetic characters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stopwords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(preserving negations)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Lemmatization using WordNet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6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1CBF-B8A5-4201-BD0E-83FC6C24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FDAA3-F9F0-4B8F-9E62-609C2B554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Findings:</a:t>
            </a:r>
            <a:endParaRPr lang="en-US" dirty="0"/>
          </a:p>
          <a:p>
            <a:pPr lvl="1"/>
            <a:r>
              <a:rPr lang="en-US" b="1" dirty="0"/>
              <a:t>Class distribution:</a:t>
            </a:r>
            <a:r>
              <a:rPr lang="en-US" dirty="0"/>
              <a:t> Highly imbalanced; neutral dominates, negative is rare but important</a:t>
            </a:r>
          </a:p>
          <a:p>
            <a:pPr lvl="1"/>
            <a:r>
              <a:rPr lang="en-US" b="1" dirty="0"/>
              <a:t>Tweet length:</a:t>
            </a:r>
            <a:r>
              <a:rPr lang="en-US" dirty="0"/>
              <a:t> Average ~10 words → suitable for bag-of-words</a:t>
            </a:r>
          </a:p>
          <a:p>
            <a:pPr lvl="1"/>
            <a:r>
              <a:rPr lang="en-US" b="1" dirty="0"/>
              <a:t>Vocabulary:</a:t>
            </a:r>
            <a:r>
              <a:rPr lang="en-US" dirty="0"/>
              <a:t> Large relative to dataset → high sparsity; justifies feature limits in vectorization</a:t>
            </a:r>
          </a:p>
          <a:p>
            <a:pPr lvl="1"/>
            <a:r>
              <a:rPr lang="en-US" b="1" dirty="0"/>
              <a:t>Brand distribution:</a:t>
            </a:r>
            <a:r>
              <a:rPr lang="en-US" dirty="0"/>
              <a:t> Apple-related tweets dominate → potential model bias toward Apple sentiment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7A12-F35C-4F17-B923-F602D291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Modeling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30F8-5FDC-4654-98B0-3044964DA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Binary Classification Approach:</a:t>
            </a:r>
            <a:endParaRPr lang="en-US" sz="2400" dirty="0"/>
          </a:p>
          <a:p>
            <a:pPr lvl="1"/>
            <a:r>
              <a:rPr lang="en-US" sz="2000" dirty="0"/>
              <a:t>Focus: </a:t>
            </a:r>
            <a:r>
              <a:rPr lang="en-US" sz="2000" b="1" dirty="0"/>
              <a:t>Positive vs. Negative sentiment</a:t>
            </a:r>
            <a:endParaRPr lang="en-US" sz="2000" dirty="0"/>
          </a:p>
          <a:p>
            <a:pPr lvl="1"/>
            <a:r>
              <a:rPr lang="en-US" sz="2000" dirty="0"/>
              <a:t>Excluded: Neutral &amp; ambiguous tweets</a:t>
            </a:r>
          </a:p>
          <a:p>
            <a:pPr lvl="1"/>
            <a:r>
              <a:rPr lang="en-US" sz="2000" dirty="0"/>
              <a:t>Rationale: Strong sentiment provides the </a:t>
            </a:r>
            <a:r>
              <a:rPr lang="en-US" sz="2000" b="1" dirty="0"/>
              <a:t>most actionable insights</a:t>
            </a:r>
          </a:p>
          <a:p>
            <a:pPr lvl="1"/>
            <a:endParaRPr lang="en-US" sz="2000" b="1" dirty="0"/>
          </a:p>
          <a:p>
            <a:pPr marL="201168" lvl="1" indent="0">
              <a:buNone/>
            </a:pPr>
            <a:endParaRPr lang="en-US" sz="2000" b="1" dirty="0"/>
          </a:p>
          <a:p>
            <a:pPr marL="201168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Feature Representation:</a:t>
            </a:r>
            <a:endParaRPr lang="en-US" sz="2400" dirty="0"/>
          </a:p>
          <a:p>
            <a:pPr lvl="1"/>
            <a:r>
              <a:rPr lang="en-US" sz="2000" b="1" dirty="0"/>
              <a:t>TF-IDF Vectorization</a:t>
            </a:r>
            <a:r>
              <a:rPr lang="en-US" sz="2000" dirty="0"/>
              <a:t> (Unigrams only)</a:t>
            </a:r>
          </a:p>
          <a:p>
            <a:pPr lvl="1"/>
            <a:r>
              <a:rPr lang="en-US" sz="2000" dirty="0"/>
              <a:t>Max features: 5000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1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AA61-A3C8-49F1-A4B5-AEAC766C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Modeling Strategy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E6717-33A1-4D48-A88B-B6C66E65A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Models Evaluated:</a:t>
            </a:r>
            <a:endParaRPr lang="en-US" sz="2400" dirty="0"/>
          </a:p>
          <a:p>
            <a:pPr lvl="1"/>
            <a:r>
              <a:rPr lang="en-US" sz="2000" dirty="0"/>
              <a:t>Logistic Regression (with class balancing)</a:t>
            </a:r>
          </a:p>
          <a:p>
            <a:pPr lvl="1"/>
            <a:r>
              <a:rPr lang="en-US" sz="2000" dirty="0"/>
              <a:t>Multinomial Naive Bayes</a:t>
            </a:r>
          </a:p>
          <a:p>
            <a:pPr lvl="1"/>
            <a:r>
              <a:rPr lang="en-US" sz="2000" dirty="0"/>
              <a:t>Linear Support Vector Classification (LinearSVC)</a:t>
            </a:r>
          </a:p>
          <a:p>
            <a:pPr lvl="1"/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Evaluation Strategy:</a:t>
            </a:r>
            <a:endParaRPr lang="en-US" sz="2400" dirty="0"/>
          </a:p>
          <a:p>
            <a:pPr lvl="1"/>
            <a:r>
              <a:rPr lang="en-US" sz="2000" b="1" dirty="0"/>
              <a:t>Train-test split:</a:t>
            </a:r>
            <a:r>
              <a:rPr lang="en-US" sz="2000" dirty="0"/>
              <a:t> 80/20 (stratified)</a:t>
            </a:r>
          </a:p>
          <a:p>
            <a:pPr lvl="1"/>
            <a:r>
              <a:rPr lang="en-US" sz="2000" b="1" dirty="0"/>
              <a:t>Metrics:</a:t>
            </a:r>
            <a:r>
              <a:rPr lang="en-US" sz="2000" dirty="0"/>
              <a:t> Recall, F1-score, Confusion Matrix</a:t>
            </a:r>
          </a:p>
          <a:p>
            <a:pPr lvl="1"/>
            <a:r>
              <a:rPr lang="en-US" sz="2000" b="1" dirty="0"/>
              <a:t>Business priority:</a:t>
            </a:r>
            <a:r>
              <a:rPr lang="en-US" sz="2000" dirty="0"/>
              <a:t> Minimize missed negative sentiment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464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A61E-F33D-45DB-B1C1-ACEE2118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Model Performance and Comparison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D60213ED-C0D9-4012-BCDC-4115DAAE1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231735"/>
              </p:ext>
            </p:extLst>
          </p:nvPr>
        </p:nvGraphicFramePr>
        <p:xfrm>
          <a:off x="838200" y="2214694"/>
          <a:ext cx="10515600" cy="4292636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41025826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964380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281924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11184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905194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88460594"/>
                    </a:ext>
                  </a:extLst>
                </a:gridCol>
              </a:tblGrid>
              <a:tr h="780479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Negative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Weighted 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Limitation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842050"/>
                  </a:ext>
                </a:extLst>
              </a:tr>
              <a:tr h="780479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Misses ~31% of negative tweets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863580"/>
                  </a:ext>
                </a:extLst>
              </a:tr>
              <a:tr h="1365839">
                <a:tc>
                  <a:txBody>
                    <a:bodyPr/>
                    <a:lstStyle/>
                    <a:p>
                      <a:r>
                        <a:rPr lang="en-US" dirty="0"/>
                        <a:t>Multinomial Naive Bayes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Fails to detect negative sentiment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504518"/>
                  </a:ext>
                </a:extLst>
              </a:tr>
              <a:tr h="1365839">
                <a:tc>
                  <a:txBody>
                    <a:bodyPr/>
                    <a:lstStyle/>
                    <a:p>
                      <a:r>
                        <a:rPr lang="en-US" b="1" dirty="0"/>
                        <a:t>LinearSVC</a:t>
                      </a:r>
                      <a:r>
                        <a:rPr lang="en-US" dirty="0"/>
                        <a:t> (Selected)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88%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overall balance; reliable for brand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48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794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8F41-350D-470C-8891-75631D0D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Final Model Selection: LinearSVC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6F1C-3C4B-49E1-918B-A6D1EFDFF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Why LinearSVC?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Highest overall accuracy (88%)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Best balance between positive and negative recall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Most reliable for brand monitoring use case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Fewer extreme misclassifications</a:t>
            </a: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Performance Summary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Strong at identifying explicit sentiment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Struggles with ambiguous/neutral language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Acceptable error rate for proof-of-concept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Provides actionable insights for brand teams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840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E420-07FF-4C98-8A3C-62A240163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Error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22714-2998-4397-AC69-277549879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4200" b="1" i="0" dirty="0">
                <a:solidFill>
                  <a:srgbClr val="0F1115"/>
                </a:solidFill>
                <a:effectLst/>
                <a:latin typeface="quote-cjk-patch"/>
              </a:rPr>
              <a:t>False Positives (Predicted Positive, Actually Negative)</a:t>
            </a:r>
            <a:endParaRPr lang="en-US" sz="4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en-US" sz="3400" b="0" i="0" dirty="0">
                <a:solidFill>
                  <a:srgbClr val="0F1115"/>
                </a:solidFill>
                <a:effectLst/>
                <a:latin typeface="quote-cjk-patch"/>
              </a:rPr>
              <a:t>Often contain neutral or factual language</a:t>
            </a:r>
            <a:r>
              <a:rPr lang="en-US" sz="3400" dirty="0"/>
              <a:t>(product updates, rumors, comparisons)</a:t>
            </a:r>
            <a:endParaRPr lang="en-US" sz="3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en-US" sz="3400" b="0" i="0" dirty="0">
                <a:solidFill>
                  <a:srgbClr val="0F1115"/>
                </a:solidFill>
                <a:effectLst/>
                <a:latin typeface="quote-cjk-patch"/>
              </a:rPr>
              <a:t>Model over-weights brand mentions</a:t>
            </a:r>
          </a:p>
          <a:p>
            <a:pPr lvl="1"/>
            <a:r>
              <a:rPr lang="en-US" sz="3400" b="1" i="0" dirty="0">
                <a:solidFill>
                  <a:srgbClr val="0F1115"/>
                </a:solidFill>
                <a:effectLst/>
                <a:latin typeface="quote-cjk-patch"/>
              </a:rPr>
              <a:t>Business Impact</a:t>
            </a:r>
            <a:r>
              <a:rPr lang="en-US" sz="3400" b="0" i="0" dirty="0">
                <a:solidFill>
                  <a:srgbClr val="0F1115"/>
                </a:solidFill>
                <a:effectLst/>
                <a:latin typeface="quote-cjk-patch"/>
              </a:rPr>
              <a:t>: May overestimate positive sentiment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4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n-US" sz="4200" b="1" i="0" dirty="0">
                <a:solidFill>
                  <a:srgbClr val="0F1115"/>
                </a:solidFill>
                <a:effectLst/>
                <a:latin typeface="quote-cjk-patch"/>
              </a:rPr>
              <a:t>False Negatives (Predicted Negative, Actually Positive)</a:t>
            </a:r>
            <a:endParaRPr lang="en-US" sz="4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en-US" sz="3400" b="0" i="0" dirty="0">
                <a:solidFill>
                  <a:srgbClr val="0F1115"/>
                </a:solidFill>
                <a:effectLst/>
                <a:latin typeface="quote-cjk-patch"/>
              </a:rPr>
              <a:t>Subtle or implicit positivity</a:t>
            </a:r>
          </a:p>
          <a:p>
            <a:pPr lvl="1"/>
            <a:r>
              <a:rPr lang="en-US" sz="3400" b="0" i="0" dirty="0">
                <a:solidFill>
                  <a:srgbClr val="0F1115"/>
                </a:solidFill>
                <a:effectLst/>
                <a:latin typeface="quote-cjk-patch"/>
              </a:rPr>
              <a:t>Casual endorsements without strong language</a:t>
            </a:r>
          </a:p>
          <a:p>
            <a:pPr lvl="1"/>
            <a:r>
              <a:rPr lang="en-US" sz="3400" b="0" i="0" dirty="0">
                <a:solidFill>
                  <a:srgbClr val="0F1115"/>
                </a:solidFill>
                <a:effectLst/>
                <a:latin typeface="quote-cjk-patch"/>
              </a:rPr>
              <a:t>Short or ambiguous phrasing</a:t>
            </a:r>
          </a:p>
          <a:p>
            <a:pPr lvl="1"/>
            <a:r>
              <a:rPr lang="en-US" sz="3400" b="1" i="0" dirty="0">
                <a:solidFill>
                  <a:srgbClr val="0F1115"/>
                </a:solidFill>
                <a:effectLst/>
                <a:latin typeface="quote-cjk-patch"/>
              </a:rPr>
              <a:t>Business Impact</a:t>
            </a:r>
            <a:r>
              <a:rPr lang="en-US" sz="3400" b="0" i="0" dirty="0">
                <a:solidFill>
                  <a:srgbClr val="0F1115"/>
                </a:solidFill>
                <a:effectLst/>
                <a:latin typeface="quote-cjk-patch"/>
              </a:rPr>
              <a:t>: Misses genuine positive feedback</a:t>
            </a:r>
          </a:p>
          <a:p>
            <a:pPr lvl="1"/>
            <a:endParaRPr lang="en-US" sz="3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rgbClr val="0F1115"/>
                </a:solidFill>
                <a:latin typeface="quote-cjk-patch"/>
              </a:rPr>
              <a:t>N/B </a:t>
            </a:r>
            <a:r>
              <a:rPr lang="en-US" sz="4200" b="0" i="0" dirty="0">
                <a:solidFill>
                  <a:srgbClr val="0F1115"/>
                </a:solidFill>
                <a:effectLst/>
                <a:latin typeface="quote-cjk-patch"/>
              </a:rPr>
              <a:t>Errors reflect common NLP challenges in social media data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539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0269-A59B-4851-911D-95D233FB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/>
              <a:t>Model Interpretability: Feature Importance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F8668B-EF9B-4470-8157-E8DF8FF93E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1286" y="1769968"/>
            <a:ext cx="10515599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Sentiment Indicators: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"cool", "free", "great", "awesome", "fun", "winning", "smart"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terms: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"party", "week", "everywhere“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Sentiment Indicators: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Words: 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fail", "hate", "headache", "crash", "faulty", "disappointment"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Negation terms: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"not", "won't", "didn’t”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captures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meaningful sentiment patterns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rather than random correlations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88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9F2-BC32-4E06-B548-B5D835E8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Limitations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AEA7B-CEE7-45BC-8C60-429477DE4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Model &amp; Feature Limitations:</a:t>
            </a:r>
            <a:endParaRPr lang="en-US" sz="2400" dirty="0"/>
          </a:p>
          <a:p>
            <a:pPr lvl="1"/>
            <a:r>
              <a:rPr lang="en-US" sz="2000" dirty="0"/>
              <a:t>Bag-of-words ignores </a:t>
            </a:r>
            <a:r>
              <a:rPr lang="en-US" sz="2000" b="1" dirty="0"/>
              <a:t>word order and context</a:t>
            </a:r>
            <a:endParaRPr lang="en-US" sz="2000" dirty="0"/>
          </a:p>
          <a:p>
            <a:pPr lvl="1"/>
            <a:r>
              <a:rPr lang="en-US" sz="2000" dirty="0"/>
              <a:t>Struggles with </a:t>
            </a:r>
            <a:r>
              <a:rPr lang="en-US" sz="2000" b="1" dirty="0"/>
              <a:t>sarcasm, irony, and nuanced expressions</a:t>
            </a:r>
            <a:endParaRPr lang="en-US" sz="2000" dirty="0"/>
          </a:p>
          <a:p>
            <a:pPr lvl="1"/>
            <a:r>
              <a:rPr lang="en-US" sz="2000" b="1" dirty="0"/>
              <a:t>Class imbalance</a:t>
            </a:r>
            <a:r>
              <a:rPr lang="en-US" sz="2000" dirty="0"/>
              <a:t> biases toward positive sentiment</a:t>
            </a:r>
          </a:p>
          <a:p>
            <a:pPr lvl="1"/>
            <a:r>
              <a:rPr lang="en-US" sz="2000" dirty="0"/>
              <a:t>Missing metadata: no emoji or hashtag semantics</a:t>
            </a:r>
          </a:p>
          <a:p>
            <a:pPr lvl="1"/>
            <a:r>
              <a:rPr lang="en-US" sz="2000" dirty="0"/>
              <a:t>Binary classification excludes </a:t>
            </a:r>
            <a:r>
              <a:rPr lang="en-US" sz="2000" b="1" dirty="0"/>
              <a:t>neutral sentiment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Dataset Limitations:</a:t>
            </a:r>
            <a:endParaRPr lang="en-US" sz="2400" dirty="0"/>
          </a:p>
          <a:p>
            <a:pPr lvl="1"/>
            <a:r>
              <a:rPr lang="en-US" sz="2000" b="1" dirty="0"/>
              <a:t>Apple-dominated content</a:t>
            </a:r>
            <a:r>
              <a:rPr lang="en-US" sz="2000" dirty="0"/>
              <a:t> → potential bias</a:t>
            </a:r>
          </a:p>
          <a:p>
            <a:pPr lvl="1"/>
            <a:r>
              <a:rPr lang="en-US" sz="2000" dirty="0"/>
              <a:t>Limited negative examples</a:t>
            </a:r>
          </a:p>
          <a:p>
            <a:pPr lvl="1"/>
            <a:r>
              <a:rPr lang="en-US" sz="2000" dirty="0"/>
              <a:t>Tech-specific terminology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8267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5DC5-CD04-41C0-852D-1C1BA759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Recommendations for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28763-553D-4193-83F4-6A4AF0DB4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Enhanced Features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Add n-grams and emoji handling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Incorporate sentiment lexicons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Include metadata features</a:t>
            </a: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Advanced Modeling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Explore transformer-based embeddings (BERT, etc.)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Implement cost-sensitive learning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Add neutral class for 3-way classification</a:t>
            </a: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Deployment Considerations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Human-in-the-loop review system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Real-time monitoring dashboard</a:t>
            </a:r>
          </a:p>
          <a:p>
            <a:pPr lvl="1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Regular model retraining with new data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7042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FF59-0A0F-4C4D-ACF0-C7EEA4D0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Business Value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4F9FE-7154-46F7-8C9E-8AEF1D5F2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Key Business Applications:</a:t>
            </a:r>
            <a:endParaRPr lang="en-US" sz="2400" dirty="0"/>
          </a:p>
          <a:p>
            <a:pPr lvl="1"/>
            <a:r>
              <a:rPr lang="en-US" sz="2000" b="1" dirty="0"/>
              <a:t>Brand Health Monitoring:</a:t>
            </a:r>
            <a:r>
              <a:rPr lang="en-US" sz="2000" dirty="0"/>
              <a:t> Track sentiment trends over time</a:t>
            </a:r>
          </a:p>
          <a:p>
            <a:pPr lvl="1"/>
            <a:r>
              <a:rPr lang="en-US" sz="2000" b="1" dirty="0"/>
              <a:t>Crisis Detection:</a:t>
            </a:r>
            <a:r>
              <a:rPr lang="en-US" sz="2000" dirty="0"/>
              <a:t> Early identification of negative spikes</a:t>
            </a:r>
          </a:p>
          <a:p>
            <a:pPr lvl="1"/>
            <a:r>
              <a:rPr lang="en-US" sz="2000" b="1" dirty="0"/>
              <a:t>Campaign Analysis:</a:t>
            </a:r>
            <a:r>
              <a:rPr lang="en-US" sz="2000" dirty="0"/>
              <a:t> Measure impact of marketing efforts</a:t>
            </a:r>
          </a:p>
          <a:p>
            <a:pPr lvl="1"/>
            <a:r>
              <a:rPr lang="en-US" sz="2000" b="1" dirty="0"/>
              <a:t>Competitive Intelligence:</a:t>
            </a:r>
            <a:r>
              <a:rPr lang="en-US" sz="2000" dirty="0"/>
              <a:t> Compare brand sentiment vs. competitors</a:t>
            </a:r>
          </a:p>
          <a:p>
            <a:pPr marL="0" indent="0">
              <a:buNone/>
            </a:pPr>
            <a:r>
              <a:rPr lang="en-US" sz="2400" b="1" dirty="0"/>
              <a:t>Project Success:</a:t>
            </a:r>
            <a:endParaRPr lang="en-US" sz="2400" dirty="0"/>
          </a:p>
          <a:p>
            <a:pPr lvl="1"/>
            <a:r>
              <a:rPr lang="en-US" sz="2000" dirty="0"/>
              <a:t>Developed </a:t>
            </a:r>
            <a:r>
              <a:rPr lang="en-US" sz="2000" b="1" dirty="0"/>
              <a:t>working sentiment classifier</a:t>
            </a:r>
            <a:r>
              <a:rPr lang="en-US" sz="2000" dirty="0"/>
              <a:t> (88% accuracy)</a:t>
            </a:r>
          </a:p>
          <a:p>
            <a:pPr lvl="1"/>
            <a:r>
              <a:rPr lang="en-US" sz="2000" dirty="0"/>
              <a:t>Extracted </a:t>
            </a:r>
            <a:r>
              <a:rPr lang="en-US" sz="2000" b="1" dirty="0"/>
              <a:t>actionable insights</a:t>
            </a:r>
            <a:r>
              <a:rPr lang="en-US" sz="2000" dirty="0"/>
              <a:t> from noisy social media data</a:t>
            </a:r>
          </a:p>
          <a:p>
            <a:pPr lvl="1"/>
            <a:r>
              <a:rPr lang="en-US" sz="2000" dirty="0"/>
              <a:t>Built </a:t>
            </a:r>
            <a:r>
              <a:rPr lang="en-US" sz="2000" b="1" dirty="0"/>
              <a:t>interpretable, business-aligned model</a:t>
            </a:r>
            <a:endParaRPr lang="en-US" sz="2000" dirty="0"/>
          </a:p>
          <a:p>
            <a:pPr lvl="1"/>
            <a:r>
              <a:rPr lang="en-US" sz="2000" dirty="0"/>
              <a:t>Created foundation for </a:t>
            </a:r>
            <a:r>
              <a:rPr lang="en-US" sz="2000" b="1" dirty="0"/>
              <a:t>production deployment</a:t>
            </a: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Future Vision:</a:t>
            </a:r>
            <a:endParaRPr lang="en-US" sz="2400" dirty="0"/>
          </a:p>
          <a:p>
            <a:pPr lvl="1"/>
            <a:r>
              <a:rPr lang="en-US" sz="2000" dirty="0"/>
              <a:t>Scalable, </a:t>
            </a:r>
            <a:r>
              <a:rPr lang="en-US" sz="2000" b="1" dirty="0"/>
              <a:t>real-time brand sentiment monitoring platform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6166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BBD0-C0B0-4921-AB37-F4B67820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826FB-BE12-4F4C-B0AC-C5F1D76E7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i="1" dirty="0">
              <a:solidFill>
                <a:srgbClr val="0F1115"/>
              </a:solidFill>
              <a:latin typeface="quote-cjk-patch"/>
              <a:hlinkClick r:id="rId2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F1115"/>
                </a:solidFill>
                <a:latin typeface="quote-cjk-patch"/>
                <a:hlinkClick r:id="rId2"/>
              </a:rPr>
              <a:t>https://github.com/sheillamacharia/twitter_brand_sentiment_nlp.git</a:t>
            </a:r>
            <a:r>
              <a:rPr lang="en-US" i="1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 marL="0" indent="0">
              <a:buNone/>
            </a:pP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en-US" b="1" i="1" dirty="0">
                <a:solidFill>
                  <a:srgbClr val="0F1115"/>
                </a:solidFill>
                <a:effectLst/>
                <a:latin typeface="quote-cjk-patch"/>
              </a:rPr>
              <a:t>Presented by:</a:t>
            </a:r>
          </a:p>
          <a:p>
            <a:r>
              <a:rPr lang="en-US" b="0" i="1" dirty="0" err="1">
                <a:solidFill>
                  <a:srgbClr val="0F1115"/>
                </a:solidFill>
                <a:effectLst/>
                <a:latin typeface="quote-cjk-patch"/>
              </a:rPr>
              <a:t>Sheilla</a:t>
            </a: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 Macharia</a:t>
            </a:r>
          </a:p>
          <a:p>
            <a:r>
              <a:rPr lang="en-US" i="1" dirty="0">
                <a:solidFill>
                  <a:srgbClr val="0F1115"/>
                </a:solidFill>
                <a:latin typeface="quote-cjk-patch"/>
              </a:rPr>
              <a:t>Margaret Mondia</a:t>
            </a:r>
          </a:p>
          <a:p>
            <a:r>
              <a:rPr lang="en-US" b="0" i="1" dirty="0" err="1">
                <a:solidFill>
                  <a:srgbClr val="0F1115"/>
                </a:solidFill>
                <a:effectLst/>
                <a:latin typeface="quote-cjk-patch"/>
              </a:rPr>
              <a:t>Benard</a:t>
            </a: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 Kariuki</a:t>
            </a:r>
          </a:p>
          <a:p>
            <a:r>
              <a:rPr lang="en-US" i="1" dirty="0" err="1">
                <a:solidFill>
                  <a:srgbClr val="0F1115"/>
                </a:solidFill>
                <a:latin typeface="quote-cjk-patch"/>
              </a:rPr>
              <a:t>Bravian</a:t>
            </a:r>
            <a:r>
              <a:rPr lang="en-US" i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i="1" dirty="0" err="1">
                <a:solidFill>
                  <a:srgbClr val="0F1115"/>
                </a:solidFill>
                <a:latin typeface="quote-cjk-patch"/>
              </a:rPr>
              <a:t>Ashono</a:t>
            </a:r>
            <a:endParaRPr lang="en-US" i="1" dirty="0">
              <a:solidFill>
                <a:srgbClr val="0F1115"/>
              </a:solidFill>
              <a:latin typeface="quote-cjk-patch"/>
            </a:endParaRPr>
          </a:p>
          <a:p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Isaac </a:t>
            </a:r>
            <a:r>
              <a:rPr lang="en-US" b="0" i="1" dirty="0" err="1">
                <a:solidFill>
                  <a:srgbClr val="0F1115"/>
                </a:solidFill>
                <a:effectLst/>
                <a:latin typeface="quote-cjk-patch"/>
              </a:rPr>
              <a:t>Ndung’u</a:t>
            </a:r>
            <a:endParaRPr lang="en-US" b="0" i="1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b="0" i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926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223</TotalTime>
  <Words>920</Words>
  <Application>Microsoft Office PowerPoint</Application>
  <PresentationFormat>Widescreen</PresentationFormat>
  <Paragraphs>181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quote-cjk-patch</vt:lpstr>
      <vt:lpstr>Retrospect</vt:lpstr>
      <vt:lpstr>Automated Sentiment Analysis for Brand Monitoring</vt:lpstr>
      <vt:lpstr>Business Understanding</vt:lpstr>
      <vt:lpstr>Data Understanding</vt:lpstr>
      <vt:lpstr>Data Cleaning and Preparation</vt:lpstr>
      <vt:lpstr>Exploratory Data Analysis</vt:lpstr>
      <vt:lpstr>Modeling Strategy</vt:lpstr>
      <vt:lpstr>Modeling Strategy</vt:lpstr>
      <vt:lpstr>Model Performance and Comparison</vt:lpstr>
      <vt:lpstr>Final Model Selection: LinearSVC</vt:lpstr>
      <vt:lpstr>Error Analysis</vt:lpstr>
      <vt:lpstr>Model Interpretability: Feature Importance</vt:lpstr>
      <vt:lpstr>Limitations</vt:lpstr>
      <vt:lpstr>Recommendations for Improvement</vt:lpstr>
      <vt:lpstr>Business Value and 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Sentiment Analysis for Brand Monitoring</dc:title>
  <dc:creator>Margaret</dc:creator>
  <cp:lastModifiedBy>Margaret</cp:lastModifiedBy>
  <cp:revision>19</cp:revision>
  <dcterms:created xsi:type="dcterms:W3CDTF">2026-02-04T07:12:47Z</dcterms:created>
  <dcterms:modified xsi:type="dcterms:W3CDTF">2026-02-04T10:56:08Z</dcterms:modified>
</cp:coreProperties>
</file>